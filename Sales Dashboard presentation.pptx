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3" r:id="rId1"/>
  </p:sldMasterIdLst>
  <p:notesMasterIdLst>
    <p:notesMasterId r:id="rId12"/>
  </p:notesMasterIdLst>
  <p:sldIdLst>
    <p:sldId id="256" r:id="rId2"/>
    <p:sldId id="257" r:id="rId3"/>
    <p:sldId id="262" r:id="rId4"/>
    <p:sldId id="261" r:id="rId5"/>
    <p:sldId id="258" r:id="rId6"/>
    <p:sldId id="263" r:id="rId7"/>
    <p:sldId id="259" r:id="rId8"/>
    <p:sldId id="264" r:id="rId9"/>
    <p:sldId id="260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BD4902-CA08-4B25-BEA3-A000E65DBB89}" v="79" dt="2025-11-19T07:13:07.3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rga Bhavani" userId="8c29936b0cce8635" providerId="LiveId" clId="{5C0785C1-9790-487C-81DE-EE8D7A3970E4}"/>
    <pc:docChg chg="undo custSel addSld delSld modSld sldOrd modMainMaster">
      <pc:chgData name="Durga Bhavani" userId="8c29936b0cce8635" providerId="LiveId" clId="{5C0785C1-9790-487C-81DE-EE8D7A3970E4}" dt="2025-11-19T08:12:15.404" v="473" actId="20577"/>
      <pc:docMkLst>
        <pc:docMk/>
      </pc:docMkLst>
      <pc:sldChg chg="modTransition">
        <pc:chgData name="Durga Bhavani" userId="8c29936b0cce8635" providerId="LiveId" clId="{5C0785C1-9790-487C-81DE-EE8D7A3970E4}" dt="2025-11-19T07:06:59.346" v="398"/>
        <pc:sldMkLst>
          <pc:docMk/>
          <pc:sldMk cId="0" sldId="256"/>
        </pc:sldMkLst>
      </pc:sldChg>
      <pc:sldChg chg="modSp mod modTransition">
        <pc:chgData name="Durga Bhavani" userId="8c29936b0cce8635" providerId="LiveId" clId="{5C0785C1-9790-487C-81DE-EE8D7A3970E4}" dt="2025-11-19T07:15:19.372" v="414" actId="255"/>
        <pc:sldMkLst>
          <pc:docMk/>
          <pc:sldMk cId="0" sldId="257"/>
        </pc:sldMkLst>
        <pc:spChg chg="mod">
          <ac:chgData name="Durga Bhavani" userId="8c29936b0cce8635" providerId="LiveId" clId="{5C0785C1-9790-487C-81DE-EE8D7A3970E4}" dt="2025-11-19T07:15:19.372" v="414" actId="255"/>
          <ac:spMkLst>
            <pc:docMk/>
            <pc:sldMk cId="0" sldId="257"/>
            <ac:spMk id="5" creationId="{DF105D1A-7300-1D88-1F36-D87E83B419F1}"/>
          </ac:spMkLst>
        </pc:spChg>
      </pc:sldChg>
      <pc:sldChg chg="modSp mod modTransition">
        <pc:chgData name="Durga Bhavani" userId="8c29936b0cce8635" providerId="LiveId" clId="{5C0785C1-9790-487C-81DE-EE8D7A3970E4}" dt="2025-11-19T08:12:15.404" v="473" actId="20577"/>
        <pc:sldMkLst>
          <pc:docMk/>
          <pc:sldMk cId="0" sldId="258"/>
        </pc:sldMkLst>
        <pc:graphicFrameChg chg="modGraphic">
          <ac:chgData name="Durga Bhavani" userId="8c29936b0cce8635" providerId="LiveId" clId="{5C0785C1-9790-487C-81DE-EE8D7A3970E4}" dt="2025-11-19T08:12:15.404" v="473" actId="20577"/>
          <ac:graphicFrameMkLst>
            <pc:docMk/>
            <pc:sldMk cId="0" sldId="258"/>
            <ac:graphicFrameMk id="9" creationId="{7255DEDF-52B4-2221-3B0F-DD2BAB3C8EC9}"/>
          </ac:graphicFrameMkLst>
        </pc:graphicFrameChg>
      </pc:sldChg>
      <pc:sldChg chg="addSp modSp mod modTransition">
        <pc:chgData name="Durga Bhavani" userId="8c29936b0cce8635" providerId="LiveId" clId="{5C0785C1-9790-487C-81DE-EE8D7A3970E4}" dt="2025-11-19T07:16:01.502" v="415" actId="255"/>
        <pc:sldMkLst>
          <pc:docMk/>
          <pc:sldMk cId="0" sldId="259"/>
        </pc:sldMkLst>
        <pc:spChg chg="mod">
          <ac:chgData name="Durga Bhavani" userId="8c29936b0cce8635" providerId="LiveId" clId="{5C0785C1-9790-487C-81DE-EE8D7A3970E4}" dt="2025-11-19T06:31:28.560" v="183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Durga Bhavani" userId="8c29936b0cce8635" providerId="LiveId" clId="{5C0785C1-9790-487C-81DE-EE8D7A3970E4}" dt="2025-11-19T07:16:01.502" v="415" actId="255"/>
          <ac:spMkLst>
            <pc:docMk/>
            <pc:sldMk cId="0" sldId="259"/>
            <ac:spMk id="3" creationId="{00000000-0000-0000-0000-000000000000}"/>
          </ac:spMkLst>
        </pc:spChg>
        <pc:picChg chg="add mod ord">
          <ac:chgData name="Durga Bhavani" userId="8c29936b0cce8635" providerId="LiveId" clId="{5C0785C1-9790-487C-81DE-EE8D7A3970E4}" dt="2025-11-19T06:02:42.559" v="3" actId="167"/>
          <ac:picMkLst>
            <pc:docMk/>
            <pc:sldMk cId="0" sldId="259"/>
            <ac:picMk id="5" creationId="{B80C49C2-E95D-2849-9D72-28087E2BA3F3}"/>
          </ac:picMkLst>
        </pc:picChg>
      </pc:sldChg>
      <pc:sldChg chg="addSp delSp modSp mod modTransition">
        <pc:chgData name="Durga Bhavani" userId="8c29936b0cce8635" providerId="LiveId" clId="{5C0785C1-9790-487C-81DE-EE8D7A3970E4}" dt="2025-11-19T07:14:19.706" v="411" actId="255"/>
        <pc:sldMkLst>
          <pc:docMk/>
          <pc:sldMk cId="0" sldId="260"/>
        </pc:sldMkLst>
        <pc:spChg chg="mod">
          <ac:chgData name="Durga Bhavani" userId="8c29936b0cce8635" providerId="LiveId" clId="{5C0785C1-9790-487C-81DE-EE8D7A3970E4}" dt="2025-11-19T06:17:55.108" v="77" actId="27636"/>
          <ac:spMkLst>
            <pc:docMk/>
            <pc:sldMk cId="0" sldId="260"/>
            <ac:spMk id="2" creationId="{00000000-0000-0000-0000-000000000000}"/>
          </ac:spMkLst>
        </pc:spChg>
        <pc:spChg chg="add del mod">
          <ac:chgData name="Durga Bhavani" userId="8c29936b0cce8635" providerId="LiveId" clId="{5C0785C1-9790-487C-81DE-EE8D7A3970E4}" dt="2025-11-19T06:20:11.875" v="96" actId="14100"/>
          <ac:spMkLst>
            <pc:docMk/>
            <pc:sldMk cId="0" sldId="260"/>
            <ac:spMk id="3" creationId="{00000000-0000-0000-0000-000000000000}"/>
          </ac:spMkLst>
        </pc:spChg>
        <pc:spChg chg="add">
          <ac:chgData name="Durga Bhavani" userId="8c29936b0cce8635" providerId="LiveId" clId="{5C0785C1-9790-487C-81DE-EE8D7A3970E4}" dt="2025-11-19T06:16:46.590" v="65"/>
          <ac:spMkLst>
            <pc:docMk/>
            <pc:sldMk cId="0" sldId="260"/>
            <ac:spMk id="4" creationId="{94D7AC26-618F-92D5-763D-559F4244745B}"/>
          </ac:spMkLst>
        </pc:spChg>
        <pc:spChg chg="add">
          <ac:chgData name="Durga Bhavani" userId="8c29936b0cce8635" providerId="LiveId" clId="{5C0785C1-9790-487C-81DE-EE8D7A3970E4}" dt="2025-11-19T06:17:14.276" v="73"/>
          <ac:spMkLst>
            <pc:docMk/>
            <pc:sldMk cId="0" sldId="260"/>
            <ac:spMk id="5" creationId="{7DA6DBBB-7CA8-3834-691F-57576C88C2B4}"/>
          </ac:spMkLst>
        </pc:spChg>
        <pc:spChg chg="add del mod">
          <ac:chgData name="Durga Bhavani" userId="8c29936b0cce8635" providerId="LiveId" clId="{5C0785C1-9790-487C-81DE-EE8D7A3970E4}" dt="2025-11-19T07:14:19.706" v="411" actId="255"/>
          <ac:spMkLst>
            <pc:docMk/>
            <pc:sldMk cId="0" sldId="260"/>
            <ac:spMk id="6" creationId="{64EB536A-E0C3-1D2E-1DDD-FC73E6046458}"/>
          </ac:spMkLst>
        </pc:spChg>
        <pc:spChg chg="add mod">
          <ac:chgData name="Durga Bhavani" userId="8c29936b0cce8635" providerId="LiveId" clId="{5C0785C1-9790-487C-81DE-EE8D7A3970E4}" dt="2025-11-19T06:18:44.042" v="84" actId="478"/>
          <ac:spMkLst>
            <pc:docMk/>
            <pc:sldMk cId="0" sldId="260"/>
            <ac:spMk id="7" creationId="{0F090371-5720-ED5D-84A5-C1F0E3A4B1FC}"/>
          </ac:spMkLst>
        </pc:spChg>
        <pc:picChg chg="add mod ord">
          <ac:chgData name="Durga Bhavani" userId="8c29936b0cce8635" providerId="LiveId" clId="{5C0785C1-9790-487C-81DE-EE8D7A3970E4}" dt="2025-11-19T06:22:49.828" v="101" actId="167"/>
          <ac:picMkLst>
            <pc:docMk/>
            <pc:sldMk cId="0" sldId="260"/>
            <ac:picMk id="9" creationId="{0179501D-42B7-DD4A-1B23-5FBED44B46DD}"/>
          </ac:picMkLst>
        </pc:picChg>
      </pc:sldChg>
      <pc:sldChg chg="modTransition">
        <pc:chgData name="Durga Bhavani" userId="8c29936b0cce8635" providerId="LiveId" clId="{5C0785C1-9790-487C-81DE-EE8D7A3970E4}" dt="2025-11-19T07:06:59.346" v="398"/>
        <pc:sldMkLst>
          <pc:docMk/>
          <pc:sldMk cId="2980901919" sldId="261"/>
        </pc:sldMkLst>
      </pc:sldChg>
      <pc:sldChg chg="modSp mod modTransition">
        <pc:chgData name="Durga Bhavani" userId="8c29936b0cce8635" providerId="LiveId" clId="{5C0785C1-9790-487C-81DE-EE8D7A3970E4}" dt="2025-11-19T07:15:05.602" v="413" actId="255"/>
        <pc:sldMkLst>
          <pc:docMk/>
          <pc:sldMk cId="4090021923" sldId="262"/>
        </pc:sldMkLst>
        <pc:spChg chg="mod">
          <ac:chgData name="Durga Bhavani" userId="8c29936b0cce8635" providerId="LiveId" clId="{5C0785C1-9790-487C-81DE-EE8D7A3970E4}" dt="2025-11-19T07:15:05.602" v="413" actId="255"/>
          <ac:spMkLst>
            <pc:docMk/>
            <pc:sldMk cId="4090021923" sldId="262"/>
            <ac:spMk id="5" creationId="{95A3B6A8-2C8F-6432-1E8D-4DA275CEB491}"/>
          </ac:spMkLst>
        </pc:spChg>
      </pc:sldChg>
      <pc:sldChg chg="modTransition">
        <pc:chgData name="Durga Bhavani" userId="8c29936b0cce8635" providerId="LiveId" clId="{5C0785C1-9790-487C-81DE-EE8D7A3970E4}" dt="2025-11-19T07:06:59.346" v="398"/>
        <pc:sldMkLst>
          <pc:docMk/>
          <pc:sldMk cId="2706107770" sldId="263"/>
        </pc:sldMkLst>
      </pc:sldChg>
      <pc:sldChg chg="addSp delSp modSp new mod ord modTransition">
        <pc:chgData name="Durga Bhavani" userId="8c29936b0cce8635" providerId="LiveId" clId="{5C0785C1-9790-487C-81DE-EE8D7A3970E4}" dt="2025-11-19T07:13:58.346" v="410" actId="255"/>
        <pc:sldMkLst>
          <pc:docMk/>
          <pc:sldMk cId="2856840428" sldId="264"/>
        </pc:sldMkLst>
        <pc:spChg chg="mod">
          <ac:chgData name="Durga Bhavani" userId="8c29936b0cce8635" providerId="LiveId" clId="{5C0785C1-9790-487C-81DE-EE8D7A3970E4}" dt="2025-11-19T06:45:25.811" v="292" actId="207"/>
          <ac:spMkLst>
            <pc:docMk/>
            <pc:sldMk cId="2856840428" sldId="264"/>
            <ac:spMk id="2" creationId="{EA9CEC68-4544-33AD-2BF0-0B4269E551DE}"/>
          </ac:spMkLst>
        </pc:spChg>
        <pc:spChg chg="del mod">
          <ac:chgData name="Durga Bhavani" userId="8c29936b0cce8635" providerId="LiveId" clId="{5C0785C1-9790-487C-81DE-EE8D7A3970E4}" dt="2025-11-19T06:37:08.867" v="267"/>
          <ac:spMkLst>
            <pc:docMk/>
            <pc:sldMk cId="2856840428" sldId="264"/>
            <ac:spMk id="3" creationId="{AA2C68BF-E40A-88A6-555A-66D35637ED7B}"/>
          </ac:spMkLst>
        </pc:spChg>
        <pc:spChg chg="add mod">
          <ac:chgData name="Durga Bhavani" userId="8c29936b0cce8635" providerId="LiveId" clId="{5C0785C1-9790-487C-81DE-EE8D7A3970E4}" dt="2025-11-19T07:13:58.346" v="410" actId="255"/>
          <ac:spMkLst>
            <pc:docMk/>
            <pc:sldMk cId="2856840428" sldId="264"/>
            <ac:spMk id="4" creationId="{FD678DA1-B76B-45F2-E1E9-CC66A8E74D86}"/>
          </ac:spMkLst>
        </pc:spChg>
        <pc:picChg chg="add mod ord">
          <ac:chgData name="Durga Bhavani" userId="8c29936b0cce8635" providerId="LiveId" clId="{5C0785C1-9790-487C-81DE-EE8D7A3970E4}" dt="2025-11-19T06:44:26.802" v="288" actId="1076"/>
          <ac:picMkLst>
            <pc:docMk/>
            <pc:sldMk cId="2856840428" sldId="264"/>
            <ac:picMk id="6" creationId="{A7345CB2-B08B-B20E-BB65-5CA0E9BA1AB2}"/>
          </ac:picMkLst>
        </pc:picChg>
      </pc:sldChg>
      <pc:sldChg chg="new del">
        <pc:chgData name="Durga Bhavani" userId="8c29936b0cce8635" providerId="LiveId" clId="{5C0785C1-9790-487C-81DE-EE8D7A3970E4}" dt="2025-11-19T06:35:54.419" v="242" actId="47"/>
        <pc:sldMkLst>
          <pc:docMk/>
          <pc:sldMk cId="2928087629" sldId="264"/>
        </pc:sldMkLst>
      </pc:sldChg>
      <pc:sldChg chg="addSp modSp new mod modTransition">
        <pc:chgData name="Durga Bhavani" userId="8c29936b0cce8635" providerId="LiveId" clId="{5C0785C1-9790-487C-81DE-EE8D7A3970E4}" dt="2025-11-19T07:16:20.965" v="416" actId="255"/>
        <pc:sldMkLst>
          <pc:docMk/>
          <pc:sldMk cId="3779503508" sldId="265"/>
        </pc:sldMkLst>
        <pc:spChg chg="mod">
          <ac:chgData name="Durga Bhavani" userId="8c29936b0cce8635" providerId="LiveId" clId="{5C0785C1-9790-487C-81DE-EE8D7A3970E4}" dt="2025-11-19T06:55:39.711" v="345" actId="1076"/>
          <ac:spMkLst>
            <pc:docMk/>
            <pc:sldMk cId="3779503508" sldId="265"/>
            <ac:spMk id="2" creationId="{B5F32729-3521-769A-D5D6-105F72D34B88}"/>
          </ac:spMkLst>
        </pc:spChg>
        <pc:spChg chg="mod">
          <ac:chgData name="Durga Bhavani" userId="8c29936b0cce8635" providerId="LiveId" clId="{5C0785C1-9790-487C-81DE-EE8D7A3970E4}" dt="2025-11-19T07:16:20.965" v="416" actId="255"/>
          <ac:spMkLst>
            <pc:docMk/>
            <pc:sldMk cId="3779503508" sldId="265"/>
            <ac:spMk id="3" creationId="{EE1EEDA4-0469-0C3C-831E-1ECE6730103B}"/>
          </ac:spMkLst>
        </pc:spChg>
        <pc:picChg chg="add mod ord">
          <ac:chgData name="Durga Bhavani" userId="8c29936b0cce8635" providerId="LiveId" clId="{5C0785C1-9790-487C-81DE-EE8D7A3970E4}" dt="2025-11-19T06:49:31.436" v="326" actId="167"/>
          <ac:picMkLst>
            <pc:docMk/>
            <pc:sldMk cId="3779503508" sldId="265"/>
            <ac:picMk id="5" creationId="{026B9EEB-698A-6983-B06C-C37018427B5F}"/>
          </ac:picMkLst>
        </pc:picChg>
      </pc:sldChg>
      <pc:sldMasterChg chg="modTransition modSldLayout">
        <pc:chgData name="Durga Bhavani" userId="8c29936b0cce8635" providerId="LiveId" clId="{5C0785C1-9790-487C-81DE-EE8D7A3970E4}" dt="2025-11-19T07:06:59.346" v="398"/>
        <pc:sldMasterMkLst>
          <pc:docMk/>
          <pc:sldMasterMk cId="776616187" sldId="2147483813"/>
        </pc:sldMasterMkLst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3074685924" sldId="2147483814"/>
          </pc:sldLayoutMkLst>
        </pc:sldLayoutChg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687784156" sldId="2147483815"/>
          </pc:sldLayoutMkLst>
        </pc:sldLayoutChg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1810379930" sldId="2147483816"/>
          </pc:sldLayoutMkLst>
        </pc:sldLayoutChg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1818860096" sldId="2147483817"/>
          </pc:sldLayoutMkLst>
        </pc:sldLayoutChg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2832436353" sldId="2147483818"/>
          </pc:sldLayoutMkLst>
        </pc:sldLayoutChg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2391219718" sldId="2147483819"/>
          </pc:sldLayoutMkLst>
        </pc:sldLayoutChg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1868101748" sldId="2147483820"/>
          </pc:sldLayoutMkLst>
        </pc:sldLayoutChg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554596128" sldId="2147483821"/>
          </pc:sldLayoutMkLst>
        </pc:sldLayoutChg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3534984188" sldId="2147483822"/>
          </pc:sldLayoutMkLst>
        </pc:sldLayoutChg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3595967622" sldId="2147483823"/>
          </pc:sldLayoutMkLst>
        </pc:sldLayoutChg>
        <pc:sldLayoutChg chg="modTransition">
          <pc:chgData name="Durga Bhavani" userId="8c29936b0cce8635" providerId="LiveId" clId="{5C0785C1-9790-487C-81DE-EE8D7A3970E4}" dt="2025-11-19T07:06:59.346" v="398"/>
          <pc:sldLayoutMkLst>
            <pc:docMk/>
            <pc:sldMasterMk cId="776616187" sldId="2147483813"/>
            <pc:sldLayoutMk cId="1932233476" sldId="214748382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B54A3-91CC-492C-BF14-0B2492A91EF2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443FB-C4E9-40E7-8EFD-F0D49EF17D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52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443FB-C4E9-40E7-8EFD-F0D49EF17D7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222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4443FB-C4E9-40E7-8EFD-F0D49EF17D7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669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8592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84156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79930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860096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36353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1971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01748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596128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84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967622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3347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1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B1D51B5-8F69-9A5C-C97A-8F6F35456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54834E5-ED95-8110-FC61-24F353EC2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689885"/>
              </p:ext>
            </p:extLst>
          </p:nvPr>
        </p:nvGraphicFramePr>
        <p:xfrm>
          <a:off x="0" y="-2"/>
          <a:ext cx="9144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60775254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79509179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2004954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87833956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56740528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223136685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3219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237385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32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69329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7134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84018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559E14C-725E-B70D-B21E-2EC6E60E9B64}"/>
              </a:ext>
            </a:extLst>
          </p:cNvPr>
          <p:cNvSpPr txBox="1"/>
          <p:nvPr/>
        </p:nvSpPr>
        <p:spPr>
          <a:xfrm>
            <a:off x="250371" y="1632857"/>
            <a:ext cx="55843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2060"/>
                </a:solidFill>
                <a:latin typeface="Arial Black" panose="020B0A04020102020204" pitchFamily="34" charset="0"/>
              </a:rPr>
              <a:t>Business Revenue &amp; Profit Analysis Dashboard</a:t>
            </a:r>
          </a:p>
          <a:p>
            <a:r>
              <a:rPr lang="en-US" b="1" dirty="0">
                <a:solidFill>
                  <a:srgbClr val="002060"/>
                </a:solidFill>
              </a:rPr>
              <a:t>By Durga Bhavani </a:t>
            </a:r>
            <a:endParaRPr lang="en-IN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98C86E6-EEBE-37CE-203C-DBA674ED1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887" y="499533"/>
            <a:ext cx="8180614" cy="598889"/>
          </a:xfrm>
        </p:spPr>
        <p:txBody>
          <a:bodyPr>
            <a:noAutofit/>
          </a:bodyPr>
          <a:lstStyle/>
          <a:p>
            <a:r>
              <a:rPr lang="en-IN" sz="3600" b="1" dirty="0"/>
              <a:t>Project Overview</a:t>
            </a:r>
            <a:endParaRPr sz="36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F105D1A-7300-1D88-1F36-D87E83B419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2709559"/>
            <a:ext cx="773410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Aim: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  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Analyze sales, discounts, expenses, and profits by department.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Purpose: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    </a:t>
            </a:r>
            <a:r>
              <a:rPr lang="en-US" altLang="en-US" sz="2000" dirty="0">
                <a:solidFill>
                  <a:schemeClr val="bg1"/>
                </a:solidFill>
              </a:rPr>
              <a:t>Identify cost efficiency and growth opportunities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Tool Used</a:t>
            </a:r>
            <a:r>
              <a:rPr lang="en-US" altLang="en-US" sz="2000" b="1" dirty="0">
                <a:solidFill>
                  <a:schemeClr val="bg1"/>
                </a:solidFill>
              </a:rPr>
              <a:t>: </a:t>
            </a:r>
            <a:r>
              <a:rPr lang="en-US" altLang="en-US" sz="2000" dirty="0">
                <a:solidFill>
                  <a:schemeClr val="bg1"/>
                </a:solidFill>
              </a:rPr>
              <a:t>   MS Excel (Pivot Tables, Charts, KPIs, Slicers).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Data Type: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Sample company financial dataset.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9C65342-695B-F784-9571-3C2195D7B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9B90A3-B1E2-5276-7C12-7FC80AF76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-251581"/>
            <a:ext cx="8079581" cy="1658198"/>
          </a:xfrm>
        </p:spPr>
        <p:txBody>
          <a:bodyPr/>
          <a:lstStyle/>
          <a:p>
            <a:r>
              <a:rPr lang="en-IN" sz="3600" b="1" dirty="0"/>
              <a:t>Project</a:t>
            </a:r>
            <a:r>
              <a:rPr lang="en-IN" dirty="0"/>
              <a:t> </a:t>
            </a:r>
            <a:r>
              <a:rPr lang="en-IN" sz="3600" b="1" dirty="0"/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A3B6A8-2C8F-6432-1E8D-4DA275CEB491}"/>
              </a:ext>
            </a:extLst>
          </p:cNvPr>
          <p:cNvSpPr txBox="1"/>
          <p:nvPr/>
        </p:nvSpPr>
        <p:spPr>
          <a:xfrm>
            <a:off x="195943" y="729344"/>
            <a:ext cx="8773886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000" b="1" dirty="0">
                <a:solidFill>
                  <a:schemeClr val="accent6"/>
                </a:solidFill>
              </a:rPr>
              <a:t>1. Data Exploration</a:t>
            </a:r>
            <a:endParaRPr lang="en-US" sz="2000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Imported the raw dataset and examined its structure, field types, and data quality.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Researched and interpreted the meaning of each field to understand business context.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Identified missing values, blank entries, and inconsistencies in records.</a:t>
            </a:r>
          </a:p>
          <a:p>
            <a:endParaRPr lang="en-US" sz="2000" dirty="0"/>
          </a:p>
          <a:p>
            <a:pPr>
              <a:buNone/>
            </a:pPr>
            <a:r>
              <a:rPr lang="en-US" sz="2000" b="1" dirty="0">
                <a:solidFill>
                  <a:schemeClr val="accent6"/>
                </a:solidFill>
              </a:rPr>
              <a:t>2. Data Cleaning &amp; Transformation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Handled missing and blank values using suitable cleaning techniques.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Added calculated fields required for deeper analysis and KPI computation.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Ensured data consistency, accuracy, and readiness for analysis.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None/>
            </a:pPr>
            <a:r>
              <a:rPr lang="en-US" sz="2000" b="1" dirty="0">
                <a:solidFill>
                  <a:schemeClr val="accent6"/>
                </a:solidFill>
              </a:rPr>
              <a:t>3. Data Analysis &amp; Visualization</a:t>
            </a:r>
            <a:endParaRPr lang="en-US" sz="2000" dirty="0">
              <a:solidFill>
                <a:schemeClr val="accent6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Utilized Pivot Tables, filters, and Excel formulas to calculate key performance metrics.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Developed KPI cards, charts, and summary tables for clear data interpretation.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1"/>
                </a:solidFill>
              </a:rPr>
              <a:t>Highlighted insights and patterns supporting business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409002192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9B7A6A0-336C-23E6-E0A7-30C9F64AB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6CDFBF-F4C1-FEB9-17E8-DF7C2A59E73C}"/>
              </a:ext>
            </a:extLst>
          </p:cNvPr>
          <p:cNvSpPr txBox="1"/>
          <p:nvPr/>
        </p:nvSpPr>
        <p:spPr>
          <a:xfrm>
            <a:off x="239486" y="402771"/>
            <a:ext cx="48985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spc="-12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Data</a:t>
            </a:r>
            <a:r>
              <a:rPr lang="en-IN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IN" sz="3600" b="1" spc="-12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Overview</a:t>
            </a:r>
          </a:p>
          <a:p>
            <a:endParaRPr lang="en-IN" sz="3600" b="1" spc="-120" dirty="0"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r>
              <a:rPr lang="en-IN" dirty="0">
                <a:solidFill>
                  <a:srgbClr val="002060"/>
                </a:solidFill>
                <a:latin typeface="+mj-lt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AFA3B6-39DA-44EA-1462-AF2BAA984055}"/>
              </a:ext>
            </a:extLst>
          </p:cNvPr>
          <p:cNvSpPr txBox="1"/>
          <p:nvPr/>
        </p:nvSpPr>
        <p:spPr>
          <a:xfrm>
            <a:off x="1306286" y="8229600"/>
            <a:ext cx="7151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Jhvk</a:t>
            </a:r>
            <a:r>
              <a:rPr lang="en-IN" dirty="0"/>
              <a:t> 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8A1E6837-3480-B10D-CE41-95839502C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87" y="1420973"/>
            <a:ext cx="83820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Source: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Sample Corporate Financial Dataset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Time Period: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2022–2023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Key Fields: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Department, Category, Region, Revenue, Expenses, Profit, Discount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Final Records: </a:t>
            </a:r>
            <a:r>
              <a:rPr lang="en-US" altLang="en-US" sz="2000" dirty="0">
                <a:solidFill>
                  <a:schemeClr val="bg1"/>
                </a:solidFill>
              </a:rPr>
              <a:t>30000+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after cleaning and transformation.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Data prepared for descriptive and comparative analysis.</a:t>
            </a:r>
          </a:p>
        </p:txBody>
      </p:sp>
    </p:spTree>
    <p:extLst>
      <p:ext uri="{BB962C8B-B14F-4D97-AF65-F5344CB8AC3E}">
        <p14:creationId xmlns:p14="http://schemas.microsoft.com/office/powerpoint/2010/main" val="298090191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E5024E7-249F-7D58-F16D-84E9C2407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55DEDF-52B4-2221-3B0F-DD2BAB3C8E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0485603"/>
              </p:ext>
            </p:extLst>
          </p:nvPr>
        </p:nvGraphicFramePr>
        <p:xfrm>
          <a:off x="283029" y="2324098"/>
          <a:ext cx="8654139" cy="4142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713">
                  <a:extLst>
                    <a:ext uri="{9D8B030D-6E8A-4147-A177-3AD203B41FA5}">
                      <a16:colId xmlns:a16="http://schemas.microsoft.com/office/drawing/2014/main" val="1570957771"/>
                    </a:ext>
                  </a:extLst>
                </a:gridCol>
                <a:gridCol w="1578429">
                  <a:extLst>
                    <a:ext uri="{9D8B030D-6E8A-4147-A177-3AD203B41FA5}">
                      <a16:colId xmlns:a16="http://schemas.microsoft.com/office/drawing/2014/main" val="616810711"/>
                    </a:ext>
                  </a:extLst>
                </a:gridCol>
                <a:gridCol w="4190997">
                  <a:extLst>
                    <a:ext uri="{9D8B030D-6E8A-4147-A177-3AD203B41FA5}">
                      <a16:colId xmlns:a16="http://schemas.microsoft.com/office/drawing/2014/main" val="4027619556"/>
                    </a:ext>
                  </a:extLst>
                </a:gridCol>
              </a:tblGrid>
              <a:tr h="828403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Value 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Insight 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723330"/>
                  </a:ext>
                </a:extLst>
              </a:tr>
              <a:tr h="8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Total Revenue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₹4.61 Cr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Steady growth across departments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656928"/>
                  </a:ext>
                </a:extLst>
              </a:tr>
              <a:tr h="828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Average Discount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₹3,905</a:t>
                      </a:r>
                    </a:p>
                  </a:txBody>
                  <a:tcPr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Controlled discounting strategy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135573"/>
                  </a:ext>
                </a:extLst>
              </a:tr>
              <a:tr h="828403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Profit Margin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27.48%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7.48 profit for every 100 sales 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505441"/>
                  </a:ext>
                </a:extLst>
              </a:tr>
              <a:tr h="828403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Expense-to-Revenue Ratio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73%</a:t>
                      </a: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₹73 spent per ₹100 earned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87301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5EFE25B-3C66-7E18-E392-8462A0294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C54085-A301-A94B-7F94-12D5E815A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40398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/>
              <a:t>Interactive Dashboard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DE8646-06D5-2868-E9FF-9AFDA6868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39" y="1647035"/>
            <a:ext cx="9038122" cy="50521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610777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0C49C2-E95D-2849-9D72-28087E2BA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99534"/>
            <a:ext cx="8079581" cy="469296"/>
          </a:xfrm>
        </p:spPr>
        <p:txBody>
          <a:bodyPr>
            <a:normAutofit fontScale="90000"/>
          </a:bodyPr>
          <a:lstStyle/>
          <a:p>
            <a:r>
              <a:rPr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559" y="1654629"/>
            <a:ext cx="8574881" cy="5301342"/>
          </a:xfrm>
        </p:spPr>
        <p:txBody>
          <a:bodyPr>
            <a:normAutofit fontScale="70000" lnSpcReduction="20000"/>
          </a:bodyPr>
          <a:lstStyle/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chemeClr val="bg1"/>
                </a:solidFill>
              </a:rPr>
              <a:t>IT and R&amp;D are the strongest revenue and profit contributors, showing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100" dirty="0">
                <a:solidFill>
                  <a:schemeClr val="bg1"/>
                </a:solidFill>
              </a:rPr>
              <a:t>     high </a:t>
            </a:r>
            <a:r>
              <a:rPr lang="en-US" sz="2900" dirty="0">
                <a:solidFill>
                  <a:schemeClr val="bg1"/>
                </a:solidFill>
              </a:rPr>
              <a:t>operational</a:t>
            </a:r>
            <a:r>
              <a:rPr lang="en-US" sz="3100" dirty="0">
                <a:solidFill>
                  <a:schemeClr val="bg1"/>
                </a:solidFill>
              </a:rPr>
              <a:t> efficiency.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3100" dirty="0">
              <a:solidFill>
                <a:schemeClr val="bg1"/>
              </a:solidFill>
            </a:endParaRP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chemeClr val="bg1"/>
                </a:solidFill>
              </a:rPr>
              <a:t>HR and Finance generate the lowest performance, indicating clear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100" dirty="0">
                <a:solidFill>
                  <a:schemeClr val="bg1"/>
                </a:solidFill>
              </a:rPr>
              <a:t>     opportunities for cost optimization.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3100" dirty="0">
              <a:solidFill>
                <a:schemeClr val="bg1"/>
              </a:solidFill>
            </a:endParaRP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chemeClr val="bg1"/>
                </a:solidFill>
              </a:rPr>
              <a:t>The company maintains a healthy 27.48% profit margin, but the 73%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100" dirty="0">
                <a:solidFill>
                  <a:schemeClr val="bg1"/>
                </a:solidFill>
              </a:rPr>
              <a:t>     expense ratio suggests scope to reduce costs.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3100" dirty="0">
              <a:solidFill>
                <a:schemeClr val="bg1"/>
              </a:solidFill>
            </a:endParaRP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chemeClr val="bg1"/>
                </a:solidFill>
              </a:rPr>
              <a:t>Revenue peaks in Q2, showing strong seasonal demand compared to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3100" dirty="0">
                <a:solidFill>
                  <a:schemeClr val="bg1"/>
                </a:solidFill>
              </a:rPr>
              <a:t>     weaker Q3 performance.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sz="3100" dirty="0">
              <a:solidFill>
                <a:schemeClr val="bg1"/>
              </a:solidFill>
            </a:endParaRP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3100" dirty="0">
                <a:solidFill>
                  <a:schemeClr val="bg1"/>
                </a:solidFill>
              </a:rPr>
              <a:t>Higher discounts are reducing revenue growth and profitability, especially in Operations and HR.</a:t>
            </a:r>
          </a:p>
          <a:p>
            <a:pPr marL="285750" indent="-28575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sz="31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345CB2-B08B-B20E-BB65-5CA0E9BA1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A9CEC68-4544-33AD-2BF0-0B4269E551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426962"/>
          </a:xfrm>
        </p:spPr>
        <p:txBody>
          <a:bodyPr/>
          <a:lstStyle/>
          <a:p>
            <a:r>
              <a:rPr lang="en-US" sz="4000" b="1" dirty="0">
                <a:solidFill>
                  <a:schemeClr val="accent1"/>
                </a:solidFill>
              </a:rPr>
              <a:t>Overall Performance</a:t>
            </a:r>
            <a:endParaRPr lang="en-IN" sz="4000" b="1" dirty="0">
              <a:solidFill>
                <a:schemeClr val="accent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D678DA1-B76B-45F2-E1E9-CC66A8E74D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1674" y="2072395"/>
            <a:ext cx="8480651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+mn-lt"/>
              </a:rPr>
              <a:t>The company shows strong financial performance with steady revenue growth and a healthy profit margin.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+mn-lt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+mn-lt"/>
              </a:rPr>
              <a:t>IT and R&amp;D lead overall performance, contributing the highest revenue and profit.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+mn-lt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+mn-lt"/>
              </a:rPr>
              <a:t>The expense-to-revenue ratio is high, indicating scope for improved cost efficiency.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+mn-lt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+mn-lt"/>
              </a:rPr>
              <a:t>Revenue shows seasonal strength with the highest peak in Q2.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+mn-lt"/>
            </a:endParaRPr>
          </a:p>
          <a:p>
            <a:pPr marL="285750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+mn-lt"/>
              </a:rPr>
              <a:t>Discount practices are affecting profitability, highlighting the need for optimized discount strategies.</a:t>
            </a:r>
          </a:p>
        </p:txBody>
      </p:sp>
    </p:spTree>
    <p:extLst>
      <p:ext uri="{BB962C8B-B14F-4D97-AF65-F5344CB8AC3E}">
        <p14:creationId xmlns:p14="http://schemas.microsoft.com/office/powerpoint/2010/main" val="285684042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179501D-42B7-DD4A-1B23-5FBED44B4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59888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flipV="1">
            <a:off x="283029" y="326571"/>
            <a:ext cx="7722169" cy="1077686"/>
          </a:xfrm>
        </p:spPr>
        <p:txBody>
          <a:bodyPr>
            <a:normAutofit/>
          </a:bodyPr>
          <a:lstStyle/>
          <a:p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4EB536A-E0C3-1D2E-1DDD-FC73E6046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71" y="2492923"/>
            <a:ext cx="880654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company achieved strong overall performance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₹4.61 Cr total revenue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and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27.48% profit margin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showing effective operations and financial stability.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IT and R&amp;D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emerged as the top-performing departments, driving most of the profit and revenue.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Discounts have a visible impact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on profitability — excessive discounts are linked with lower revenue growth and reduced profit margins.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Departments such 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HR and Finance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show scope for improvement in both cost control and revenue generation.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6B9EEB-698A-6983-B06C-C3701842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F32729-3521-769A-D5D6-105F72D34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063" y="655410"/>
            <a:ext cx="4609229" cy="503162"/>
          </a:xfrm>
        </p:spPr>
        <p:txBody>
          <a:bodyPr/>
          <a:lstStyle/>
          <a:p>
            <a:r>
              <a:rPr lang="en-IN" sz="4000" b="1" dirty="0">
                <a:solidFill>
                  <a:schemeClr val="accent1"/>
                </a:solidFill>
              </a:rPr>
              <a:t>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EEDA4-0469-0C3C-831E-1ECE67301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063" y="1440845"/>
            <a:ext cx="8175280" cy="5830812"/>
          </a:xfrm>
        </p:spPr>
        <p:txBody>
          <a:bodyPr>
            <a:normAutofit fontScale="47500" lnSpcReduction="20000"/>
          </a:bodyPr>
          <a:lstStyle/>
          <a:p>
            <a:pPr marL="457200" indent="-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latin typeface="+mn-lt"/>
              </a:rPr>
              <a:t>Optimize Discount Policies </a:t>
            </a:r>
            <a:r>
              <a:rPr lang="en-US" sz="4200" dirty="0">
                <a:latin typeface="+mn-lt"/>
              </a:rPr>
              <a:t>– Reduce unnecessary discounting and focus on value-based pricing to improve profit margins.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4200" dirty="0">
              <a:latin typeface="+mn-lt"/>
            </a:endParaRPr>
          </a:p>
          <a:p>
            <a:pPr marL="457200" indent="-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latin typeface="+mn-lt"/>
              </a:rPr>
              <a:t>Cost Efficiency Programs </a:t>
            </a:r>
            <a:r>
              <a:rPr lang="en-US" sz="4200" dirty="0">
                <a:latin typeface="+mn-lt"/>
              </a:rPr>
              <a:t>– Analyze expense distribution across departments and identify opportunities to minimize operational costs.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4200" dirty="0">
              <a:latin typeface="+mn-lt"/>
            </a:endParaRPr>
          </a:p>
          <a:p>
            <a:pPr marL="457200" indent="-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latin typeface="+mn-lt"/>
              </a:rPr>
              <a:t>Enhance Marketing ROI </a:t>
            </a:r>
            <a:r>
              <a:rPr lang="en-US" sz="4200" dirty="0">
                <a:latin typeface="+mn-lt"/>
              </a:rPr>
              <a:t>– Reassess marketing expenditures to ensure higher returns and align campaigns with profitable segments.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4200" dirty="0">
              <a:latin typeface="+mn-lt"/>
            </a:endParaRPr>
          </a:p>
          <a:p>
            <a:pPr marL="457200" indent="-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latin typeface="+mn-lt"/>
              </a:rPr>
              <a:t>Invest in High-performing Areas </a:t>
            </a:r>
            <a:r>
              <a:rPr lang="en-US" sz="4200" dirty="0">
                <a:latin typeface="+mn-lt"/>
              </a:rPr>
              <a:t>– Allocate more resources to R&amp;D and IT, as they show consistent profitability and strong revenue growth.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endParaRPr lang="en-US" sz="4200" dirty="0">
              <a:latin typeface="+mn-lt"/>
            </a:endParaRPr>
          </a:p>
          <a:p>
            <a:pPr marL="457200" indent="-4572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4200" b="1" dirty="0">
                <a:latin typeface="+mn-lt"/>
              </a:rPr>
              <a:t>Quarterly Performance Tracking </a:t>
            </a:r>
            <a:r>
              <a:rPr lang="en-US" sz="4200" dirty="0">
                <a:latin typeface="+mn-lt"/>
              </a:rPr>
              <a:t>– Continue monitoring trends via dashboards to identify seasonal fluctuations early and make timely business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950350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2982</TotalTime>
  <Words>631</Words>
  <Application>Microsoft Office PowerPoint</Application>
  <PresentationFormat>On-screen Show (4:3)</PresentationFormat>
  <Paragraphs>104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Wingdings</vt:lpstr>
      <vt:lpstr>Metropolitan</vt:lpstr>
      <vt:lpstr>PowerPoint Presentation</vt:lpstr>
      <vt:lpstr>Project Overview</vt:lpstr>
      <vt:lpstr>Project Methodology</vt:lpstr>
      <vt:lpstr>PowerPoint Presentation</vt:lpstr>
      <vt:lpstr>Key Metrics</vt:lpstr>
      <vt:lpstr>Interactive Dashboard</vt:lpstr>
      <vt:lpstr>Key Insights</vt:lpstr>
      <vt:lpstr>Overall Performance</vt:lpstr>
      <vt:lpstr>Conclusion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Durga Bhavani</dc:creator>
  <cp:keywords/>
  <dc:description>generated using python-pptx</dc:description>
  <cp:lastModifiedBy>Durga Bhavani</cp:lastModifiedBy>
  <cp:revision>3</cp:revision>
  <dcterms:created xsi:type="dcterms:W3CDTF">2013-01-27T09:14:16Z</dcterms:created>
  <dcterms:modified xsi:type="dcterms:W3CDTF">2025-11-19T08:12:24Z</dcterms:modified>
  <cp:category/>
</cp:coreProperties>
</file>